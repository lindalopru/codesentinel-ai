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40080" y="640080"/>
            <a:ext cx="822960" cy="822960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1E2761"/>
                </a:solidFill>
                <a:latin typeface="Helvetica Neue"/>
              </a:rPr>
              <a:t>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45920" y="73152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ADCFC"/>
                </a:solidFill>
                <a:latin typeface="Helvetica Neue"/>
              </a:rPr>
              <a:t>Universidad Surcolombiana · USCO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0515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Helvetica Neue"/>
              </a:rPr>
              <a:t>Inteligencia Artificial · Prof. Juan Antonio Castro Silva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Helvetica Neue"/>
              </a:rPr>
              <a:t>CodeSentinel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CADCFC"/>
                </a:solidFill>
                <a:latin typeface="Helvetica Neue"/>
              </a:rPr>
              <a:t>Revisor de Código Local con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06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CADCFC"/>
                </a:solidFill>
                <a:latin typeface="Helvetica Neue"/>
              </a:rPr>
              <a:t>Proyecto 2 — IA para Ingeniería de Software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4864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96167"/>
                </a:solidFill>
                <a:latin typeface="Helvetica Neue"/>
              </a:rPr>
              <a:t>AUTORES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064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Helvetica Neue"/>
              </a:rPr>
              <a:t>Linda Valentina Lopez Rubiano   ·   Juan Felipe Andrade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2636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CADCFC"/>
                </a:solidFill>
                <a:latin typeface="Helvetica Neue"/>
              </a:rPr>
              <a:t>Mayo 2026 · Semestre 2026-I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96167"/>
                </a:solidFill>
                <a:latin typeface="Helvetica Neue"/>
              </a:rPr>
              <a:t>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E2761"/>
                </a:solidFill>
                <a:latin typeface="Helvetica Neue"/>
              </a:rPr>
              <a:t>Los revisores de código son caros, lentos, o filtran tu código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828800"/>
            <a:ext cx="356616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4884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E2761"/>
                </a:solidFill>
                <a:latin typeface="Helvetica Neue"/>
              </a:rPr>
              <a:t>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96167"/>
                </a:solidFill>
                <a:latin typeface="Helvetica Neue"/>
              </a:rPr>
              <a:t>Copilot · Cursor · CodeRabbit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46120"/>
            <a:ext cx="29260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A5568"/>
                </a:solidFill>
                <a:latin typeface="Helvetica Neue"/>
              </a:rPr>
              <a:t>Suben tu código a un tercero. Costo recurrente.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828800"/>
            <a:ext cx="356616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83480" y="214884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E2761"/>
                </a:solidFill>
                <a:latin typeface="Helvetica Neue"/>
              </a:rPr>
              <a:t>Manual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27432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96167"/>
                </a:solidFill>
                <a:latin typeface="Helvetica Neue"/>
              </a:rPr>
              <a:t>Code reviews humanos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3246120"/>
            <a:ext cx="29260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A5568"/>
                </a:solidFill>
                <a:latin typeface="Helvetica Neue"/>
              </a:rPr>
              <a:t>Lentos, inconsistentes, no escalan.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9640" y="1828800"/>
            <a:ext cx="3566160" cy="3017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214884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E2761"/>
                </a:solidFill>
                <a:latin typeface="Helvetica Neue"/>
              </a:rPr>
              <a:t>Estático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74320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96167"/>
                </a:solidFill>
                <a:latin typeface="Helvetica Neue"/>
              </a:rPr>
              <a:t>bandit · ruff · ESLint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3246120"/>
            <a:ext cx="29260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4A5568"/>
                </a:solidFill>
                <a:latin typeface="Helvetica Neue"/>
              </a:rPr>
              <a:t>Determinísticos pero ciegos a la semántica.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21208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E2761"/>
                </a:solidFill>
                <a:latin typeface="Helvetica Neue"/>
              </a:rPr>
              <a:t>¿Y si pudiéramos tener calidad de la nube, deterministicismo del estático, y privacidad total?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Helvetica Neue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96167"/>
                </a:solidFill>
                <a:latin typeface="Helvetica Neue"/>
              </a:rPr>
              <a:t>ESTADO DEL ARTE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E2761"/>
                </a:solidFill>
                <a:latin typeface="Helvetica Neue"/>
              </a:rPr>
              <a:t>Comparativa de revisores en mayo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645920"/>
            <a:ext cx="338328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l"/>
            <a:r>
              <a:rPr sz="1300" b="1">
                <a:solidFill>
                  <a:srgbClr val="FFFFFF"/>
                </a:solidFill>
                <a:latin typeface="Helvetica Neue"/>
              </a:rPr>
              <a:t>Producto</a:t>
            </a:r>
          </a:p>
        </p:txBody>
      </p:sp>
      <p:sp>
        <p:nvSpPr>
          <p:cNvPr id="5" name="Rectangle 4"/>
          <p:cNvSpPr/>
          <p:nvPr/>
        </p:nvSpPr>
        <p:spPr>
          <a:xfrm>
            <a:off x="4160520" y="1645920"/>
            <a:ext cx="146304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l"/>
            <a:r>
              <a:rPr sz="1300" b="1">
                <a:solidFill>
                  <a:srgbClr val="FFFFFF"/>
                </a:solidFill>
                <a:latin typeface="Helvetica Neue"/>
              </a:rPr>
              <a:t>Hosted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623560" y="1645920"/>
            <a:ext cx="146304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l"/>
            <a:r>
              <a:rPr sz="1300" b="1">
                <a:solidFill>
                  <a:srgbClr val="FFFFFF"/>
                </a:solidFill>
                <a:latin typeface="Helvetica Neue"/>
              </a:rPr>
              <a:t>Costo</a:t>
            </a:r>
          </a:p>
        </p:txBody>
      </p:sp>
      <p:sp>
        <p:nvSpPr>
          <p:cNvPr id="7" name="Rectangle 6"/>
          <p:cNvSpPr/>
          <p:nvPr/>
        </p:nvSpPr>
        <p:spPr>
          <a:xfrm>
            <a:off x="7086600" y="1645920"/>
            <a:ext cx="219456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l"/>
            <a:r>
              <a:rPr sz="1300" b="1">
                <a:solidFill>
                  <a:srgbClr val="FFFFFF"/>
                </a:solidFill>
                <a:latin typeface="Helvetica Neue"/>
              </a:rPr>
              <a:t>Privacidad</a:t>
            </a:r>
          </a:p>
        </p:txBody>
      </p:sp>
      <p:sp>
        <p:nvSpPr>
          <p:cNvPr id="8" name="Rectangle 7"/>
          <p:cNvSpPr/>
          <p:nvPr/>
        </p:nvSpPr>
        <p:spPr>
          <a:xfrm>
            <a:off x="9281160" y="1645920"/>
            <a:ext cx="219456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l"/>
            <a:r>
              <a:rPr sz="1300" b="1">
                <a:solidFill>
                  <a:srgbClr val="FFFFFF"/>
                </a:solidFill>
                <a:latin typeface="Helvetica Neue"/>
              </a:rPr>
              <a:t>Open?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148840"/>
            <a:ext cx="33832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l"/>
            <a:r>
              <a:rPr sz="1200" b="0">
                <a:solidFill>
                  <a:srgbClr val="4A5568"/>
                </a:solidFill>
                <a:latin typeface="Helvetica Neue"/>
              </a:rPr>
              <a:t>Copilot PR 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60520" y="2148840"/>
            <a:ext cx="14630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l"/>
            <a:r>
              <a:rPr sz="1200" b="0">
                <a:solidFill>
                  <a:srgbClr val="4A5568"/>
                </a:solidFill>
                <a:latin typeface="Helvetica Neue"/>
              </a:rPr>
              <a:t>Cloud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23560" y="2148840"/>
            <a:ext cx="14630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l"/>
            <a:r>
              <a:rPr sz="1200" b="0">
                <a:solidFill>
                  <a:srgbClr val="4A5568"/>
                </a:solidFill>
                <a:latin typeface="Helvetica Neue"/>
              </a:rPr>
              <a:t>$/seat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86600" y="2148840"/>
            <a:ext cx="21945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l"/>
            <a:r>
              <a:rPr sz="1200" b="0">
                <a:solidFill>
                  <a:srgbClr val="4A5568"/>
                </a:solidFill>
                <a:latin typeface="Helvetica Neue"/>
              </a:rPr>
              <a:t>Sube código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81160" y="2148840"/>
            <a:ext cx="21945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l"/>
            <a:r>
              <a:rPr sz="1200" b="0">
                <a:solidFill>
                  <a:srgbClr val="4A5568"/>
                </a:solidFill>
                <a:latin typeface="Helvetica Neue"/>
              </a:rPr>
              <a:t>No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651760"/>
            <a:ext cx="3383280" cy="5029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l"/>
            <a:r>
              <a:rPr sz="1200" b="0">
                <a:solidFill>
                  <a:srgbClr val="4A5568"/>
                </a:solidFill>
                <a:latin typeface="Helvetica Neue"/>
              </a:rPr>
              <a:t>Cursor Review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60520" y="2651760"/>
            <a:ext cx="1463040" cy="5029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l"/>
            <a:r>
              <a:rPr sz="1200" b="0">
                <a:solidFill>
                  <a:srgbClr val="4A5568"/>
                </a:solidFill>
                <a:latin typeface="Helvetica Neue"/>
              </a:rPr>
              <a:t>Cloud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23560" y="2651760"/>
            <a:ext cx="1463040" cy="5029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l"/>
            <a:r>
              <a:rPr sz="1200" b="0">
                <a:solidFill>
                  <a:srgbClr val="4A5568"/>
                </a:solidFill>
                <a:latin typeface="Helvetica Neue"/>
              </a:rPr>
              <a:t>$/seat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86600" y="2651760"/>
            <a:ext cx="2194560" cy="5029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l"/>
            <a:r>
              <a:rPr sz="1200" b="0">
                <a:solidFill>
                  <a:srgbClr val="4A5568"/>
                </a:solidFill>
                <a:latin typeface="Helvetica Neue"/>
              </a:rPr>
              <a:t>Sube código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81160" y="2651760"/>
            <a:ext cx="2194560" cy="5029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l"/>
            <a:r>
              <a:rPr sz="1200" b="0">
                <a:solidFill>
                  <a:srgbClr val="4A5568"/>
                </a:solidFill>
                <a:latin typeface="Helvetica Neue"/>
              </a:rPr>
              <a:t>No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154680"/>
            <a:ext cx="33832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l"/>
            <a:r>
              <a:rPr sz="1200" b="0">
                <a:solidFill>
                  <a:srgbClr val="4A5568"/>
                </a:solidFill>
                <a:latin typeface="Helvetica Neue"/>
              </a:rPr>
              <a:t>CodeRabbit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3154680"/>
            <a:ext cx="14630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l"/>
            <a:r>
              <a:rPr sz="1200" b="0">
                <a:solidFill>
                  <a:srgbClr val="4A5568"/>
                </a:solidFill>
                <a:latin typeface="Helvetica Neue"/>
              </a:rPr>
              <a:t>Cloud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23560" y="3154680"/>
            <a:ext cx="14630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l"/>
            <a:r>
              <a:rPr sz="1200" b="0">
                <a:solidFill>
                  <a:srgbClr val="4A5568"/>
                </a:solidFill>
                <a:latin typeface="Helvetica Neue"/>
              </a:rPr>
              <a:t>$/seat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86600" y="3154680"/>
            <a:ext cx="21945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l"/>
            <a:r>
              <a:rPr sz="1200" b="0">
                <a:solidFill>
                  <a:srgbClr val="4A5568"/>
                </a:solidFill>
                <a:latin typeface="Helvetica Neue"/>
              </a:rPr>
              <a:t>Sube código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281160" y="3154680"/>
            <a:ext cx="21945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l"/>
            <a:r>
              <a:rPr sz="1200" b="0">
                <a:solidFill>
                  <a:srgbClr val="4A5568"/>
                </a:solidFill>
                <a:latin typeface="Helvetica Neue"/>
              </a:rPr>
              <a:t>No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657600"/>
            <a:ext cx="3383280" cy="5029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l"/>
            <a:r>
              <a:rPr sz="1200" b="0">
                <a:solidFill>
                  <a:srgbClr val="4A5568"/>
                </a:solidFill>
                <a:latin typeface="Helvetica Neue"/>
              </a:rPr>
              <a:t>Sourcery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60520" y="3657600"/>
            <a:ext cx="1463040" cy="5029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l"/>
            <a:r>
              <a:rPr sz="1200" b="0">
                <a:solidFill>
                  <a:srgbClr val="4A5568"/>
                </a:solidFill>
                <a:latin typeface="Helvetica Neue"/>
              </a:rPr>
              <a:t>Cloud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23560" y="3657600"/>
            <a:ext cx="1463040" cy="5029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l"/>
            <a:r>
              <a:rPr sz="1200" b="0">
                <a:solidFill>
                  <a:srgbClr val="4A5568"/>
                </a:solidFill>
                <a:latin typeface="Helvetica Neue"/>
              </a:rPr>
              <a:t>Freemium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86600" y="3657600"/>
            <a:ext cx="2194560" cy="5029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l"/>
            <a:r>
              <a:rPr sz="1200" b="0">
                <a:solidFill>
                  <a:srgbClr val="4A5568"/>
                </a:solidFill>
                <a:latin typeface="Helvetica Neue"/>
              </a:rPr>
              <a:t>Sube código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81160" y="3657600"/>
            <a:ext cx="2194560" cy="5029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l"/>
            <a:r>
              <a:rPr sz="1200" b="0">
                <a:solidFill>
                  <a:srgbClr val="4A5568"/>
                </a:solidFill>
                <a:latin typeface="Helvetica Neue"/>
              </a:rPr>
              <a:t>Parcial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4160520"/>
            <a:ext cx="33832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l"/>
            <a:r>
              <a:rPr sz="1200" b="0">
                <a:solidFill>
                  <a:srgbClr val="4A5568"/>
                </a:solidFill>
                <a:latin typeface="Helvetica Neue"/>
              </a:rPr>
              <a:t>Bandit / Ruff / ESLint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60520" y="4160520"/>
            <a:ext cx="14630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l"/>
            <a:r>
              <a:rPr sz="1200" b="0">
                <a:solidFill>
                  <a:srgbClr val="4A5568"/>
                </a:solidFill>
                <a:latin typeface="Helvetica Neue"/>
              </a:rPr>
              <a:t>Local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23560" y="4160520"/>
            <a:ext cx="14630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l"/>
            <a:r>
              <a:rPr sz="1200" b="0">
                <a:solidFill>
                  <a:srgbClr val="4A5568"/>
                </a:solidFill>
                <a:latin typeface="Helvetica Neue"/>
              </a:rPr>
              <a:t>Free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86600" y="4160520"/>
            <a:ext cx="21945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l"/>
            <a:r>
              <a:rPr sz="1200" b="0">
                <a:solidFill>
                  <a:srgbClr val="4A5568"/>
                </a:solidFill>
                <a:latin typeface="Helvetica Neue"/>
              </a:rPr>
              <a:t>100% local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81160" y="4160520"/>
            <a:ext cx="21945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l"/>
            <a:r>
              <a:rPr sz="1200" b="0">
                <a:solidFill>
                  <a:srgbClr val="4A5568"/>
                </a:solidFill>
                <a:latin typeface="Helvetica Neue"/>
              </a:rPr>
              <a:t>Sí (rule-based)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77240" y="4663440"/>
            <a:ext cx="3383280" cy="5029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l"/>
            <a:r>
              <a:rPr sz="1300" b="1">
                <a:solidFill>
                  <a:srgbClr val="FFFFFF"/>
                </a:solidFill>
                <a:latin typeface="Helvetica Neue"/>
              </a:rPr>
              <a:t>CodeSentinel (este proyecto)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60520" y="4663440"/>
            <a:ext cx="1463040" cy="5029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l"/>
            <a:r>
              <a:rPr sz="1300" b="1">
                <a:solidFill>
                  <a:srgbClr val="FFFFFF"/>
                </a:solidFill>
                <a:latin typeface="Helvetica Neue"/>
              </a:rPr>
              <a:t>Local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23560" y="4663440"/>
            <a:ext cx="1463040" cy="5029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l"/>
            <a:r>
              <a:rPr sz="1300" b="1">
                <a:solidFill>
                  <a:srgbClr val="FFFFFF"/>
                </a:solidFill>
                <a:latin typeface="Helvetica Neue"/>
              </a:rPr>
              <a:t>Free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86600" y="4663440"/>
            <a:ext cx="2194560" cy="5029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l"/>
            <a:r>
              <a:rPr sz="1300" b="1">
                <a:solidFill>
                  <a:srgbClr val="FFFFFF"/>
                </a:solidFill>
                <a:latin typeface="Helvetica Neue"/>
              </a:rPr>
              <a:t>100% local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281160" y="4663440"/>
            <a:ext cx="2194560" cy="5029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l"/>
            <a:r>
              <a:rPr sz="1300" b="1">
                <a:solidFill>
                  <a:srgbClr val="FFFFFF"/>
                </a:solidFill>
                <a:latin typeface="Helvetica Neue"/>
              </a:rPr>
              <a:t>Sí (MIT)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85216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E2761"/>
                </a:solidFill>
                <a:latin typeface="Helvetica Neue"/>
              </a:rPr>
              <a:t>CodeSentinel combina la calidad de los productos cloud con la privacidad de los analizadores locales.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Helvetica Neue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96167"/>
                </a:solidFill>
                <a:latin typeface="Helvetica Neue"/>
              </a:rPr>
              <a:t>ARQUITECTURA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E2761"/>
                </a:solidFill>
                <a:latin typeface="Helvetica Neue"/>
              </a:rPr>
              <a:t>Tres capas: front-end, motor, runtime LLM local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645920"/>
            <a:ext cx="1069848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645920"/>
            <a:ext cx="164592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830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Helvetica Neue"/>
              </a:rPr>
              <a:t>Front-ends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19456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Helvetica Neue"/>
              </a:rPr>
              <a:t>Typer CLI · Gradio Web UI · API SARIF/JSON/MD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48716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E2761"/>
                </a:solidFill>
                <a:latin typeface="Helvetica Neue"/>
              </a:rPr>
              <a:t>Dos puntos de entrada al mismo motor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926080"/>
            <a:ext cx="1069848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926080"/>
            <a:ext cx="164592" cy="109728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06324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Helvetica Neue"/>
              </a:rPr>
              <a:t>Motor de revisión (Python)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47472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Helvetica Neue"/>
              </a:rPr>
              <a:t>ReviewEngine · Chunker · Merger · git-diff parser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7673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96167"/>
                </a:solidFill>
                <a:latin typeface="Helvetica Neue"/>
              </a:rPr>
              <a:t>Orquesta LLM + analizadores + dedup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206240"/>
            <a:ext cx="10698480" cy="1097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D6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" y="4206240"/>
            <a:ext cx="164592" cy="1097280"/>
          </a:xfrm>
          <a:prstGeom prst="rect">
            <a:avLst/>
          </a:prstGeom>
          <a:solidFill>
            <a:srgbClr val="FF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34340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Helvetica Neue"/>
              </a:rPr>
              <a:t>LLM local (Ollama daemon)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75488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Helvetica Neue"/>
              </a:rPr>
              <a:t>Qwen2.5-Coder 7B · Q4_K_M · Metal automático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0474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D66B"/>
                </a:solidFill>
                <a:latin typeface="Helvetica Neue"/>
              </a:rPr>
              <a:t>127.0.0.1:11434 · format=json · num_ctx=16384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6035040" y="2743200"/>
            <a:ext cx="457200" cy="365760"/>
          </a:xfrm>
          <a:prstGeom prst="downArrow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own Arrow 19"/>
          <p:cNvSpPr/>
          <p:nvPr/>
        </p:nvSpPr>
        <p:spPr>
          <a:xfrm>
            <a:off x="6035040" y="4023360"/>
            <a:ext cx="457200" cy="365760"/>
          </a:xfrm>
          <a:prstGeom prst="downArrow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9436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E2761"/>
                </a:solidFill>
                <a:latin typeface="Helvetica Neue"/>
              </a:rPr>
              <a:t>Todo en localhost. Cero llamadas a servicios externos.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Helvetica Neue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96167"/>
                </a:solidFill>
                <a:latin typeface="Helvetica Neue"/>
              </a:rPr>
              <a:t>STACK TÉCNICO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E2761"/>
                </a:solidFill>
                <a:latin typeface="Helvetica Neue"/>
              </a:rPr>
              <a:t>Tecnologías elegidas y por qué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51206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E2761"/>
                </a:solidFill>
                <a:latin typeface="Helvetica Neue"/>
              </a:rPr>
              <a:t>•  Ollama 0.24</a:t>
            </a:r>
            <a:r>
              <a:rPr sz="1400" b="0">
                <a:solidFill>
                  <a:srgbClr val="4A5568"/>
                </a:solidFill>
                <a:latin typeface="Helvetica Neue"/>
              </a:rPr>
              <a:t>  Runtime LLM — Metal automático en Apple Silicon, instala con brew.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1E2761"/>
                </a:solidFill>
                <a:latin typeface="Helvetica Neue"/>
              </a:rPr>
              <a:t>•  Qwen2.5-Coder 7B</a:t>
            </a:r>
            <a:r>
              <a:rPr sz="1400" b="0">
                <a:solidFill>
                  <a:srgbClr val="4A5568"/>
                </a:solidFill>
                <a:latin typeface="Helvetica Neue"/>
              </a:rPr>
              <a:t>  Modelo (Q4_K_M, 4.7 GB). HumanEval ~76, top en clase ≤8B, license Apache 2.0.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1E2761"/>
                </a:solidFill>
                <a:latin typeface="Helvetica Neue"/>
              </a:rPr>
              <a:t>•  Python 3.12 + Pydantic v2</a:t>
            </a:r>
            <a:r>
              <a:rPr sz="1400" b="0">
                <a:solidFill>
                  <a:srgbClr val="4A5568"/>
                </a:solidFill>
                <a:latin typeface="Helvetica Neue"/>
              </a:rPr>
              <a:t>  Schema tipado de Finding / Severity / ReviewResult.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1E2761"/>
                </a:solidFill>
                <a:latin typeface="Helvetica Neue"/>
              </a:rPr>
              <a:t>•  Typer + Rich</a:t>
            </a:r>
            <a:r>
              <a:rPr sz="1400" b="0">
                <a:solidFill>
                  <a:srgbClr val="4A5568"/>
                </a:solidFill>
                <a:latin typeface="Helvetica Neue"/>
              </a:rPr>
              <a:t>  CLI moderna con paneles coloreados por severidad.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737360"/>
            <a:ext cx="51206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E2761"/>
                </a:solidFill>
                <a:latin typeface="Helvetica Neue"/>
              </a:rPr>
              <a:t>•  Gradio 5.50 Blocks</a:t>
            </a:r>
            <a:r>
              <a:rPr sz="1400" b="0">
                <a:solidFill>
                  <a:srgbClr val="4A5568"/>
                </a:solidFill>
                <a:latin typeface="Helvetica Neue"/>
              </a:rPr>
              <a:t>  Web UI con tabs Upload / Paste / Git diff + descarga MD.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1E2761"/>
                </a:solidFill>
                <a:latin typeface="Helvetica Neue"/>
              </a:rPr>
              <a:t>•  bandit + ruff + ESLint</a:t>
            </a:r>
            <a:r>
              <a:rPr sz="1400" b="0">
                <a:solidFill>
                  <a:srgbClr val="4A5568"/>
                </a:solidFill>
                <a:latin typeface="Helvetica Neue"/>
              </a:rPr>
              <a:t>  Analizadores estáticos para grounding del LLM.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1E2761"/>
                </a:solidFill>
                <a:latin typeface="Helvetica Neue"/>
              </a:rPr>
              <a:t>•  httpx + json5 + rapidfuzz</a:t>
            </a:r>
            <a:r>
              <a:rPr sz="1400" b="0">
                <a:solidFill>
                  <a:srgbClr val="4A5568"/>
                </a:solidFill>
                <a:latin typeface="Helvetica Neue"/>
              </a:rPr>
              <a:t>  HTTP, parsing robusto, dedup por similitud.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1E2761"/>
                </a:solidFill>
                <a:latin typeface="Helvetica Neue"/>
              </a:rPr>
              <a:t>•  pytest + respx</a:t>
            </a:r>
            <a:r>
              <a:rPr sz="1400" b="0">
                <a:solidFill>
                  <a:srgbClr val="4A5568"/>
                </a:solidFill>
                <a:latin typeface="Helvetica Neue"/>
              </a:rPr>
              <a:t>  55 tests, cobertura 70% global, 95-100% en núcleo.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5852160"/>
            <a:ext cx="2606040" cy="64008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5888736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D66B"/>
                </a:solidFill>
                <a:latin typeface="Helvetica Neue"/>
              </a:rPr>
              <a:t>4.7 GB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6236208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Helvetica Neue"/>
              </a:rPr>
              <a:t>Modelo en disco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5852160"/>
            <a:ext cx="2606040" cy="64008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9312" y="5888736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D66B"/>
                </a:solidFill>
                <a:latin typeface="Helvetica Neue"/>
              </a:rPr>
              <a:t>16 GB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6236208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Helvetica Neue"/>
              </a:rPr>
              <a:t>RAM unificada usada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35624" y="5852160"/>
            <a:ext cx="2606040" cy="64008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8504" y="5888736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D66B"/>
                </a:solidFill>
                <a:latin typeface="Helvetica Neue"/>
              </a:rPr>
              <a:t>40-80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18504" y="6236208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Helvetica Neue"/>
              </a:rPr>
              <a:t>Tokens/s en M5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14816" y="5852160"/>
            <a:ext cx="2606040" cy="64008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97696" y="5888736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D66B"/>
                </a:solidFill>
                <a:latin typeface="Helvetica Neue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7696" y="6236208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CADCFC"/>
                </a:solidFill>
                <a:latin typeface="Helvetica Neue"/>
              </a:rPr>
              <a:t>Llamadas a la nube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Helvetica Neue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D66B"/>
                </a:solidFill>
                <a:latin typeface="Helvetica Neue"/>
              </a:rPr>
              <a:t>DEMO EN VIVO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Helvetica Neue"/>
              </a:rPr>
              <a:t>Dos formas de manejarlo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91640"/>
            <a:ext cx="5394960" cy="4114800"/>
          </a:xfrm>
          <a:prstGeom prst="roundRect">
            <a:avLst/>
          </a:prstGeom>
          <a:solidFill>
            <a:srgbClr val="101432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ADCFC"/>
                </a:solidFill>
                <a:latin typeface="Menlo"/>
              </a:rPr>
              <a:t>$ codesentinel review examples/buggy_python.py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46888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96167"/>
                </a:solidFill>
                <a:latin typeface="Menlo"/>
              </a:rPr>
              <a:t>[CRIT]  SQL injection via string concatenation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8036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96167"/>
                </a:solidFill>
                <a:latin typeface="Menlo"/>
              </a:rPr>
              <a:t>[CRIT]  Use of eval on untrusted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9184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D66B"/>
                </a:solidFill>
                <a:latin typeface="Menlo"/>
              </a:rPr>
              <a:t>[HIGH]  Mutable default argument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0332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D66B"/>
                </a:solidFill>
                <a:latin typeface="Menlo"/>
              </a:rPr>
              <a:t>[HIGH]  File handle leak (no with)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11480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D66B"/>
                </a:solidFill>
                <a:latin typeface="Menlo"/>
              </a:rPr>
              <a:t>[HIGH]  Unsafe pickle.loads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70916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Menlo"/>
              </a:rPr>
              <a:t>17 findings · 55.7 s · qwen2.5-coder:7b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21208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ADCFC"/>
                </a:solidFill>
                <a:latin typeface="Menlo"/>
              </a:rPr>
              <a:t>TERMINAL · CLI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691640"/>
            <a:ext cx="53949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691640"/>
            <a:ext cx="5394960" cy="45720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764792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E2761"/>
                </a:solidFill>
                <a:latin typeface="Menlo"/>
              </a:rPr>
              <a:t>● ● ●     http://127.0.0.1:7860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37744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E2761"/>
                </a:solidFill>
                <a:latin typeface="Helvetica Neue"/>
              </a:rPr>
              <a:t>🛡️  CodeSentinel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83464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4A5568"/>
                </a:solidFill>
                <a:latin typeface="Helvetica Neue"/>
              </a:rPr>
              <a:t>Local AI Code Reviewer · v0.1.0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29400" y="3291840"/>
            <a:ext cx="4663440" cy="502920"/>
          </a:xfrm>
          <a:prstGeom prst="roundRect">
            <a:avLst/>
          </a:prstGeom>
          <a:solidFill>
            <a:srgbClr val="F7F9FC"/>
          </a:solidFill>
          <a:ln w="25400"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12280" y="3410712"/>
            <a:ext cx="1005840" cy="274320"/>
          </a:xfrm>
          <a:prstGeom prst="round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80" y="3419856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CRITICAL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0" y="3438144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E2761"/>
                </a:solidFill>
                <a:latin typeface="Helvetica Neue"/>
              </a:rPr>
              <a:t>SQL injection via string concatenation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29400" y="3886200"/>
            <a:ext cx="4663440" cy="502920"/>
          </a:xfrm>
          <a:prstGeom prst="roundRect">
            <a:avLst/>
          </a:prstGeom>
          <a:solidFill>
            <a:srgbClr val="F7F9FC"/>
          </a:solidFill>
          <a:ln w="25400"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12280" y="4005072"/>
            <a:ext cx="1005840" cy="274320"/>
          </a:xfrm>
          <a:prstGeom prst="round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12280" y="4014216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CRITICAL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0" y="4032504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E2761"/>
                </a:solidFill>
                <a:latin typeface="Helvetica Neue"/>
              </a:rPr>
              <a:t>Use of eval on untrusted input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29400" y="4480560"/>
            <a:ext cx="4663440" cy="502920"/>
          </a:xfrm>
          <a:prstGeom prst="roundRect">
            <a:avLst/>
          </a:prstGeom>
          <a:solidFill>
            <a:srgbClr val="F7F9FC"/>
          </a:solidFill>
          <a:ln w="25400">
            <a:solidFill>
              <a:srgbClr val="FFD6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812280" y="4599432"/>
            <a:ext cx="1005840" cy="274320"/>
          </a:xfrm>
          <a:prstGeom prst="roundRect">
            <a:avLst/>
          </a:prstGeom>
          <a:solidFill>
            <a:srgbClr val="FF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12280" y="4608576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Helvetica Neue"/>
              </a:rPr>
              <a:t>HIGH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80" y="4626864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E2761"/>
                </a:solidFill>
                <a:latin typeface="Helvetica Neue"/>
              </a:rPr>
              <a:t>Mutable default argument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5212080"/>
            <a:ext cx="4663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A5568"/>
                </a:solidFill>
                <a:latin typeface="Helvetica Neue"/>
              </a:rPr>
              <a:t>NAVEGADOR · Gradio Web UI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CADCFC"/>
                </a:solidFill>
                <a:latin typeface="Helvetica Neue"/>
              </a:rPr>
              <a:t>Mismo motor. Mismos resultados. Dos experiencias de usuario.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CADCFC"/>
                </a:solidFill>
                <a:latin typeface="Helvetica Neue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96167"/>
                </a:solidFill>
                <a:latin typeface="Helvetica Neue"/>
              </a:rPr>
              <a:t>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E2761"/>
                </a:solidFill>
                <a:latin typeface="Helvetica Neue"/>
              </a:rPr>
              <a:t>Findings detectados en los fixtures de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737360"/>
            <a:ext cx="365760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l"/>
            <a:r>
              <a:rPr sz="1300" b="1">
                <a:solidFill>
                  <a:srgbClr val="FFFFFF"/>
                </a:solidFill>
                <a:latin typeface="Helvetica Neue"/>
              </a:rPr>
              <a:t>Archivo</a:t>
            </a:r>
          </a:p>
        </p:txBody>
      </p:sp>
      <p:sp>
        <p:nvSpPr>
          <p:cNvPr id="5" name="Rectangle 4"/>
          <p:cNvSpPr/>
          <p:nvPr/>
        </p:nvSpPr>
        <p:spPr>
          <a:xfrm>
            <a:off x="4434840" y="1737360"/>
            <a:ext cx="91440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Menlo"/>
              </a:rPr>
              <a:t>Crit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349240" y="1737360"/>
            <a:ext cx="91440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Menlo"/>
              </a:rPr>
              <a:t>High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737360"/>
            <a:ext cx="91440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Menlo"/>
              </a:rPr>
              <a:t>Med</a:t>
            </a:r>
          </a:p>
        </p:txBody>
      </p:sp>
      <p:sp>
        <p:nvSpPr>
          <p:cNvPr id="8" name="Rectangle 7"/>
          <p:cNvSpPr/>
          <p:nvPr/>
        </p:nvSpPr>
        <p:spPr>
          <a:xfrm>
            <a:off x="7178040" y="1737360"/>
            <a:ext cx="91440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Menlo"/>
              </a:rPr>
              <a:t>Low</a:t>
            </a:r>
          </a:p>
        </p:txBody>
      </p:sp>
      <p:sp>
        <p:nvSpPr>
          <p:cNvPr id="9" name="Rectangle 8"/>
          <p:cNvSpPr/>
          <p:nvPr/>
        </p:nvSpPr>
        <p:spPr>
          <a:xfrm>
            <a:off x="8092440" y="1737360"/>
            <a:ext cx="91440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Menlo"/>
              </a:rPr>
              <a:t>Info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06840" y="1737360"/>
            <a:ext cx="1280160" cy="5029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300" b="1">
                <a:solidFill>
                  <a:srgbClr val="FFFFFF"/>
                </a:solidFill>
                <a:latin typeface="Menlo"/>
              </a:rPr>
              <a:t>Total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240280"/>
            <a:ext cx="3657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l"/>
            <a:r>
              <a:rPr sz="1300" b="0">
                <a:solidFill>
                  <a:srgbClr val="4A5568"/>
                </a:solidFill>
                <a:latin typeface="Helvetica Neue"/>
              </a:rPr>
              <a:t>buggy_python.py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2240280"/>
            <a:ext cx="9144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300" b="1">
                <a:solidFill>
                  <a:srgbClr val="1E2761"/>
                </a:solidFill>
                <a:latin typeface="Menlo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49240" y="2240280"/>
            <a:ext cx="9144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300" b="1">
                <a:solidFill>
                  <a:srgbClr val="1E2761"/>
                </a:solidFill>
                <a:latin typeface="Menlo"/>
              </a:rPr>
              <a:t>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240280"/>
            <a:ext cx="9144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300" b="1">
                <a:solidFill>
                  <a:srgbClr val="1E2761"/>
                </a:solidFill>
                <a:latin typeface="Menlo"/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78040" y="2240280"/>
            <a:ext cx="9144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300" b="1">
                <a:solidFill>
                  <a:srgbClr val="1E2761"/>
                </a:solidFill>
                <a:latin typeface="Menlo"/>
              </a:rPr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2240280"/>
            <a:ext cx="9144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300" b="1">
                <a:solidFill>
                  <a:srgbClr val="1E2761"/>
                </a:solidFill>
                <a:latin typeface="Menlo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6840" y="2240280"/>
            <a:ext cx="12801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300" b="1">
                <a:solidFill>
                  <a:srgbClr val="1E2761"/>
                </a:solidFill>
                <a:latin typeface="Menlo"/>
              </a:rPr>
              <a:t>17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2743200"/>
            <a:ext cx="3657600" cy="5029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l"/>
            <a:r>
              <a:rPr sz="1300" b="0">
                <a:solidFill>
                  <a:srgbClr val="4A5568"/>
                </a:solidFill>
                <a:latin typeface="Helvetica Neue"/>
              </a:rPr>
              <a:t>insecure_js.js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34840" y="2743200"/>
            <a:ext cx="914400" cy="5029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300" b="1">
                <a:solidFill>
                  <a:srgbClr val="1E2761"/>
                </a:solidFill>
                <a:latin typeface="Menlo"/>
              </a:rP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49240" y="2743200"/>
            <a:ext cx="914400" cy="5029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300" b="1">
                <a:solidFill>
                  <a:srgbClr val="1E2761"/>
                </a:solidFill>
                <a:latin typeface="Menlo"/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743200"/>
            <a:ext cx="914400" cy="5029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300" b="1">
                <a:solidFill>
                  <a:srgbClr val="1E2761"/>
                </a:solidFill>
                <a:latin typeface="Menlo"/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78040" y="2743200"/>
            <a:ext cx="914400" cy="5029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300" b="1">
                <a:solidFill>
                  <a:srgbClr val="1E2761"/>
                </a:solidFill>
                <a:latin typeface="Menlo"/>
              </a:rP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2440" y="2743200"/>
            <a:ext cx="914400" cy="5029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300" b="1">
                <a:solidFill>
                  <a:srgbClr val="1E2761"/>
                </a:solidFill>
                <a:latin typeface="Menlo"/>
              </a:rPr>
              <a:t>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06840" y="2743200"/>
            <a:ext cx="1280160" cy="5029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300" b="1">
                <a:solidFill>
                  <a:srgbClr val="1E2761"/>
                </a:solidFill>
                <a:latin typeface="Menlo"/>
              </a:rPr>
              <a:t>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246120"/>
            <a:ext cx="3657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l"/>
            <a:r>
              <a:rPr sz="1300" b="0">
                <a:solidFill>
                  <a:srgbClr val="4A5568"/>
                </a:solidFill>
                <a:latin typeface="Helvetica Neue"/>
              </a:rPr>
              <a:t>messy_typescript.ts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34840" y="3246120"/>
            <a:ext cx="9144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300" b="1">
                <a:solidFill>
                  <a:srgbClr val="1E2761"/>
                </a:solidFill>
                <a:latin typeface="Menlo"/>
              </a:rP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349240" y="3246120"/>
            <a:ext cx="9144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300" b="1">
                <a:solidFill>
                  <a:srgbClr val="1E2761"/>
                </a:solidFill>
                <a:latin typeface="Menlo"/>
              </a:rPr>
              <a:t>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3246120"/>
            <a:ext cx="9144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300" b="1">
                <a:solidFill>
                  <a:srgbClr val="1E2761"/>
                </a:solidFill>
                <a:latin typeface="Menlo"/>
              </a:rPr>
              <a:t>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78040" y="3246120"/>
            <a:ext cx="9144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300" b="1">
                <a:solidFill>
                  <a:srgbClr val="1E2761"/>
                </a:solidFill>
                <a:latin typeface="Menlo"/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92440" y="3246120"/>
            <a:ext cx="9144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300" b="1">
                <a:solidFill>
                  <a:srgbClr val="1E2761"/>
                </a:solidFill>
                <a:latin typeface="Menlo"/>
              </a:rPr>
              <a:t>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6840" y="3246120"/>
            <a:ext cx="128016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300" b="1">
                <a:solidFill>
                  <a:srgbClr val="1E2761"/>
                </a:solidFill>
                <a:latin typeface="Menlo"/>
              </a:rPr>
              <a:t>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3749040"/>
            <a:ext cx="3657600" cy="5029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l"/>
            <a:r>
              <a:rPr sz="1300" b="0">
                <a:solidFill>
                  <a:srgbClr val="4A5568"/>
                </a:solidFill>
                <a:latin typeface="Helvetica Neue"/>
              </a:rPr>
              <a:t>legacy_java.java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34840" y="3749040"/>
            <a:ext cx="914400" cy="5029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300" b="1">
                <a:solidFill>
                  <a:srgbClr val="1E2761"/>
                </a:solidFill>
                <a:latin typeface="Menlo"/>
              </a:rPr>
              <a:t>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49240" y="3749040"/>
            <a:ext cx="914400" cy="5029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300" b="1">
                <a:solidFill>
                  <a:srgbClr val="1E2761"/>
                </a:solidFill>
                <a:latin typeface="Menlo"/>
              </a:rP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3749040"/>
            <a:ext cx="914400" cy="5029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300" b="1">
                <a:solidFill>
                  <a:srgbClr val="1E2761"/>
                </a:solidFill>
                <a:latin typeface="Menlo"/>
              </a:rPr>
              <a:t>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78040" y="3749040"/>
            <a:ext cx="914400" cy="5029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300" b="1">
                <a:solidFill>
                  <a:srgbClr val="1E2761"/>
                </a:solidFill>
                <a:latin typeface="Menlo"/>
              </a:rPr>
              <a:t>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92440" y="3749040"/>
            <a:ext cx="914400" cy="5029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300" b="1">
                <a:solidFill>
                  <a:srgbClr val="1E2761"/>
                </a:solidFill>
                <a:latin typeface="Menlo"/>
              </a:rPr>
              <a:t>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06840" y="3749040"/>
            <a:ext cx="1280160" cy="5029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300" b="1">
                <a:solidFill>
                  <a:srgbClr val="1E2761"/>
                </a:solidFill>
                <a:latin typeface="Menlo"/>
              </a:rPr>
              <a:t>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4251960"/>
            <a:ext cx="3657600" cy="5029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l"/>
            <a:r>
              <a:rPr sz="1400" b="1">
                <a:solidFill>
                  <a:srgbClr val="1E2761"/>
                </a:solidFill>
                <a:latin typeface="Helvetica Neue"/>
              </a:rPr>
              <a:t>Total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34840" y="4251960"/>
            <a:ext cx="914400" cy="5029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400" b="1">
                <a:solidFill>
                  <a:srgbClr val="1E2761"/>
                </a:solidFill>
                <a:latin typeface="Menlo"/>
              </a:rPr>
              <a:t>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49240" y="4251960"/>
            <a:ext cx="914400" cy="5029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400" b="1">
                <a:solidFill>
                  <a:srgbClr val="1E2761"/>
                </a:solidFill>
                <a:latin typeface="Menlo"/>
              </a:rPr>
              <a:t>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4251960"/>
            <a:ext cx="914400" cy="5029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400" b="1">
                <a:solidFill>
                  <a:srgbClr val="1E2761"/>
                </a:solidFill>
                <a:latin typeface="Menlo"/>
              </a:rPr>
              <a:t>11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78040" y="4251960"/>
            <a:ext cx="914400" cy="5029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400" b="1">
                <a:solidFill>
                  <a:srgbClr val="1E2761"/>
                </a:solidFill>
                <a:latin typeface="Menlo"/>
              </a:rPr>
              <a:t>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92440" y="4251960"/>
            <a:ext cx="914400" cy="5029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400" b="1">
                <a:solidFill>
                  <a:srgbClr val="1E2761"/>
                </a:solidFill>
                <a:latin typeface="Menlo"/>
              </a:rPr>
              <a:t>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06840" y="4251960"/>
            <a:ext cx="1280160" cy="502920"/>
          </a:xfrm>
          <a:prstGeom prst="rect">
            <a:avLst/>
          </a:prstGeom>
          <a:solidFill>
            <a:srgbClr val="CAD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/>
            <a:r>
              <a:rPr sz="1400" b="1">
                <a:solidFill>
                  <a:srgbClr val="1E2761"/>
                </a:solidFill>
                <a:latin typeface="Menlo"/>
              </a:rPr>
              <a:t>34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5349240"/>
            <a:ext cx="3657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>
                <a:solidFill>
                  <a:srgbClr val="F96167"/>
                </a:solidFill>
                <a:latin typeface="Helvetica Neue"/>
              </a:rPr>
              <a:t>34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60807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4A5568"/>
                </a:solidFill>
                <a:latin typeface="Helvetica Neue"/>
              </a:rPr>
              <a:t>findings totales · 24 bugs plantados · 0 falsos negativos críticos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0" y="534924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Helvetica Neue"/>
              </a:rPr>
              <a:t>Hallazgos del LLM: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0" y="5623560"/>
            <a:ext cx="48463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>
                <a:solidFill>
                  <a:srgbClr val="4A5568"/>
                </a:solidFill>
                <a:latin typeface="Helvetica Neue"/>
              </a:rPr>
              <a:t>✓  Inyección SQL · eval() · log de secretos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4A5568"/>
                </a:solidFill>
                <a:latin typeface="Helvetica Neue"/>
              </a:rPr>
              <a:t>✓  pickle inseguro · NPE risk · XSS innerHTML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Helvetica Neue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96167"/>
                </a:solidFill>
                <a:latin typeface="Helvetica Neue"/>
              </a:rPr>
              <a:t>PROMPT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E2761"/>
                </a:solidFill>
                <a:latin typeface="Helvetica Neue"/>
              </a:rPr>
              <a:t>El prompt es el IP del proyecto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737360"/>
            <a:ext cx="53035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4A5568"/>
                </a:solidFill>
                <a:latin typeface="Helvetica Neue"/>
              </a:rPr>
              <a:t>v1 — el LLM se rinde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48463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4A5568"/>
                </a:solidFill>
                <a:latin typeface="Georgia"/>
              </a:rPr>
              <a:t>“Analizadores ya marcaron lo siguiente. Verifica cada uno y añade hallazgos adicionales.”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8404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Helvetica Neue"/>
              </a:rPr>
              <a:t>Efecto: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114800"/>
            <a:ext cx="48463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>
                <a:solidFill>
                  <a:srgbClr val="4A5568"/>
                </a:solidFill>
                <a:latin typeface="Helvetica Neue"/>
              </a:rPr>
              <a:t>–  Defiere a la severidad del analyzer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4A5568"/>
                </a:solidFill>
                <a:latin typeface="Helvetica Neue"/>
              </a:rPr>
              <a:t>–  SQL injection queda en MEDIUM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4A5568"/>
                </a:solidFill>
                <a:latin typeface="Helvetica Neue"/>
              </a:rPr>
              <a:t>–  Pocas detecciones propias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737360"/>
            <a:ext cx="5303520" cy="3474720"/>
          </a:xfrm>
          <a:prstGeom prst="roundRect">
            <a:avLst/>
          </a:prstGeom>
          <a:solidFill>
            <a:srgbClr val="1E2761"/>
          </a:solidFill>
          <a:ln w="25400"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9202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FD66B"/>
                </a:solidFill>
                <a:latin typeface="Helvetica Neue"/>
              </a:rPr>
              <a:t>v2 — el LLM se afirma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377440"/>
            <a:ext cx="48463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CADCFC"/>
                </a:solidFill>
                <a:latin typeface="Georgia"/>
              </a:rPr>
              <a:t>“Estas pistas NO te restringen. Re-clasifica la severidad con tu propio criterio. NO omitas un issue solo porque un analyzer lo mencionó.”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8404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D66B"/>
                </a:solidFill>
                <a:latin typeface="Helvetica Neue"/>
              </a:rPr>
              <a:t>Efecto: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114800"/>
            <a:ext cx="48463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>
                <a:solidFill>
                  <a:srgbClr val="CADCFC"/>
                </a:solidFill>
                <a:latin typeface="Helvetica Neue"/>
              </a:rPr>
              <a:t>+  SQL injection → CRITICAL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CADCFC"/>
                </a:solidFill>
                <a:latin typeface="Helvetica Neue"/>
              </a:rPr>
              <a:t>+  Detecciones propias: log secret, file leak</a:t>
            </a:r>
          </a:p>
          <a:p>
            <a:pPr algn="l">
              <a:lnSpc>
                <a:spcPct val="115000"/>
              </a:lnSpc>
            </a:pPr>
            <a:r>
              <a:rPr sz="1200">
                <a:solidFill>
                  <a:srgbClr val="CADCFC"/>
                </a:solidFill>
                <a:latin typeface="Helvetica Neue"/>
              </a:rPr>
              <a:t>+  Static + LLM superadditive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532120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1E2761"/>
                </a:solidFill>
                <a:latin typeface="Helvetica Neue"/>
              </a:rPr>
              <a:t>Bonus: parser robusto con fallback en 5 pasos (fences, balanced braces, json5, trailing commas).
Nunca crashea ante un JSON malformado del modelo.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Helvetica Neue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96167"/>
                </a:solidFill>
                <a:latin typeface="Helvetica Neue"/>
              </a:rPr>
              <a:t>TESTING &amp; QA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E2761"/>
                </a:solidFill>
                <a:latin typeface="Helvetica Neue"/>
              </a:rPr>
              <a:t>55 tests · 70 % cobertura global · 95-100 % en núcleo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737360"/>
            <a:ext cx="3566160" cy="1828800"/>
          </a:xfrm>
          <a:prstGeom prst="roundRect">
            <a:avLst/>
          </a:prstGeom>
          <a:solidFill>
            <a:srgbClr val="F961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96596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>
                <a:solidFill>
                  <a:srgbClr val="FFFFFF"/>
                </a:solidFill>
                <a:latin typeface="Helvetica Neue"/>
              </a:rPr>
              <a:t>55 / 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97180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Helvetica Neue"/>
              </a:rPr>
              <a:t>tests pasan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737360"/>
            <a:ext cx="3566160" cy="1828800"/>
          </a:xfrm>
          <a:prstGeom prst="roundRect">
            <a:avLst/>
          </a:prstGeom>
          <a:solidFill>
            <a:srgbClr val="FFD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0" y="196596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>
                <a:solidFill>
                  <a:srgbClr val="FFFFFF"/>
                </a:solidFill>
                <a:latin typeface="Helvetica Neue"/>
              </a:rPr>
              <a:t>70 %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297180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Helvetica Neue"/>
              </a:rPr>
              <a:t>cobertura global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1737360"/>
            <a:ext cx="3566160" cy="182880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49640" y="1965960"/>
            <a:ext cx="30175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>
                <a:solidFill>
                  <a:srgbClr val="FFFFFF"/>
                </a:solidFill>
                <a:latin typeface="Helvetica Neue"/>
              </a:rPr>
              <a:t>95-100 %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297180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Helvetica Neue"/>
              </a:rPr>
              <a:t>núcleo (parser, schema, merger)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8404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Helvetica Neue"/>
              </a:rPr>
              <a:t>Inventario de pruebas (12 archivos)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29768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E2761"/>
                </a:solidFill>
                <a:latin typeface="Helvetica Neue"/>
              </a:rPr>
              <a:t>•  Pure unit</a:t>
            </a:r>
            <a:r>
              <a:rPr sz="1400" b="0">
                <a:solidFill>
                  <a:srgbClr val="4A5568"/>
                </a:solidFill>
                <a:latin typeface="Helvetica Neue"/>
              </a:rPr>
              <a:t>  schema · parser · prompts · chunker · merger · git_diff · languages · reporting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1E2761"/>
                </a:solidFill>
                <a:latin typeface="Helvetica Neue"/>
              </a:rPr>
              <a:t>•  Mocked LLM</a:t>
            </a:r>
            <a:r>
              <a:rPr sz="1400" b="0">
                <a:solidFill>
                  <a:srgbClr val="4A5568"/>
                </a:solidFill>
                <a:latin typeface="Helvetica Neue"/>
              </a:rPr>
              <a:t>  client (respx HTTP) · engine (fake client) · engine_dir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1E2761"/>
                </a:solidFill>
                <a:latin typeface="Helvetica Neue"/>
              </a:rPr>
              <a:t>•  CLI integration</a:t>
            </a:r>
            <a:r>
              <a:rPr sz="1400" b="0">
                <a:solidFill>
                  <a:srgbClr val="4A5568"/>
                </a:solidFill>
                <a:latin typeface="Helvetica Neue"/>
              </a:rPr>
              <a:t>  CliRunner para review · diff · version · doctor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1E2761"/>
                </a:solidFill>
                <a:latin typeface="Helvetica Neue"/>
              </a:rPr>
              <a:t>•  Manual UI</a:t>
            </a:r>
            <a:r>
              <a:rPr sz="1400" b="0">
                <a:solidFill>
                  <a:srgbClr val="4A5568"/>
                </a:solidFill>
                <a:latin typeface="Helvetica Neue"/>
              </a:rPr>
              <a:t>  Checklist en docs/06_testing.md para tabs de Gradio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Helvetica Neue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96167"/>
                </a:solidFill>
                <a:latin typeface="Helvetica Neue"/>
              </a:rPr>
              <a:t>LIMITACIONES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E2761"/>
                </a:solidFill>
                <a:latin typeface="Helvetica Neue"/>
              </a:rPr>
              <a:t>Lo que aún no podemos hacer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106984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E2761"/>
                </a:solidFill>
                <a:latin typeface="Helvetica Neue"/>
              </a:rPr>
              <a:t>•  Solo un archivo a la vez</a:t>
            </a:r>
            <a:r>
              <a:rPr sz="1500" b="0">
                <a:solidFill>
                  <a:srgbClr val="4A5568"/>
                </a:solidFill>
                <a:latin typeface="Helvetica Neue"/>
              </a:rPr>
              <a:t>  El modelo no ve callers ni tipos en otros archivos del proyecto.</a:t>
            </a:r>
          </a:p>
          <a:p>
            <a:pPr algn="l">
              <a:lnSpc>
                <a:spcPct val="115000"/>
              </a:lnSpc>
            </a:pPr>
            <a:r>
              <a:rPr sz="1500" b="1">
                <a:solidFill>
                  <a:srgbClr val="1E2761"/>
                </a:solidFill>
                <a:latin typeface="Helvetica Neue"/>
              </a:rPr>
              <a:t>•  7B es pequeño</a:t>
            </a:r>
            <a:r>
              <a:rPr sz="1500" b="0">
                <a:solidFill>
                  <a:srgbClr val="4A5568"/>
                </a:solidFill>
                <a:latin typeface="Helvetica Neue"/>
              </a:rPr>
              <a:t>  Un modelo de 70B captaría bugs sutiles (race conditions, off-by-one no trivial).</a:t>
            </a:r>
          </a:p>
          <a:p>
            <a:pPr algn="l">
              <a:lnSpc>
                <a:spcPct val="115000"/>
              </a:lnSpc>
            </a:pPr>
            <a:r>
              <a:rPr sz="1500" b="1">
                <a:solidFill>
                  <a:srgbClr val="1E2761"/>
                </a:solidFill>
                <a:latin typeface="Helvetica Neue"/>
              </a:rPr>
              <a:t>•  Cutoff 2024</a:t>
            </a:r>
            <a:r>
              <a:rPr sz="1500" b="0">
                <a:solidFill>
                  <a:srgbClr val="4A5568"/>
                </a:solidFill>
                <a:latin typeface="Helvetica Neue"/>
              </a:rPr>
              <a:t>  El modelo desconoce APIs publicadas después de su entrenamiento.</a:t>
            </a:r>
          </a:p>
          <a:p>
            <a:pPr algn="l">
              <a:lnSpc>
                <a:spcPct val="115000"/>
              </a:lnSpc>
            </a:pPr>
            <a:r>
              <a:rPr sz="1500" b="1">
                <a:solidFill>
                  <a:srgbClr val="1E2761"/>
                </a:solidFill>
                <a:latin typeface="Helvetica Neue"/>
              </a:rPr>
              <a:t>•  Cold-start ~55 s</a:t>
            </a:r>
            <a:r>
              <a:rPr sz="1500" b="0">
                <a:solidFill>
                  <a:srgbClr val="4A5568"/>
                </a:solidFill>
                <a:latin typeface="Helvetica Neue"/>
              </a:rPr>
              <a:t>  Primera llamada carga el modelo en memoria. Subsiguientes ~10-20 s.</a:t>
            </a:r>
          </a:p>
          <a:p>
            <a:pPr algn="l">
              <a:lnSpc>
                <a:spcPct val="115000"/>
              </a:lnSpc>
            </a:pPr>
            <a:r>
              <a:rPr sz="1500" b="1">
                <a:solidFill>
                  <a:srgbClr val="1E2761"/>
                </a:solidFill>
                <a:latin typeface="Helvetica Neue"/>
              </a:rPr>
              <a:t>•  Java/Go sin analyzer</a:t>
            </a:r>
            <a:r>
              <a:rPr sz="1500" b="0">
                <a:solidFill>
                  <a:srgbClr val="4A5568"/>
                </a:solidFill>
                <a:latin typeface="Helvetica Neue"/>
              </a:rPr>
              <a:t>  Solo bandit (Python) y ruff (Python) están integrados. ESLint opcional.</a:t>
            </a:r>
          </a:p>
          <a:p>
            <a:pPr algn="l">
              <a:lnSpc>
                <a:spcPct val="115000"/>
              </a:lnSpc>
            </a:pPr>
            <a:r>
              <a:rPr sz="1500" b="1">
                <a:solidFill>
                  <a:srgbClr val="1E2761"/>
                </a:solidFill>
                <a:latin typeface="Helvetica Neue"/>
              </a:rPr>
              <a:t>•  Sin benchmark externo</a:t>
            </a:r>
            <a:r>
              <a:rPr sz="1500" b="0">
                <a:solidFill>
                  <a:srgbClr val="4A5568"/>
                </a:solidFill>
                <a:latin typeface="Helvetica Neue"/>
              </a:rPr>
              <a:t>  Evaluado solo en nuestros fixtures, no en datasets públicos (Defects4J, BugsInPy).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852160"/>
            <a:ext cx="10698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4A5568"/>
                </a:solidFill>
                <a:latin typeface="Helvetica Neue"/>
              </a:rPr>
              <a:t>Detalle completo en docs/08_limitations.md — 18 puntos honestos.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Helvetica Neue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96167"/>
                </a:solidFill>
                <a:latin typeface="Helvetica Neue"/>
              </a:rPr>
              <a:t>TRABAJO FUTURO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1E2761"/>
                </a:solidFill>
                <a:latin typeface="Helvetica Neue"/>
              </a:rPr>
              <a:t>A dónde puede ir CodeSentinel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F96167"/>
                </a:solidFill>
                <a:latin typeface="Helvetica Neue"/>
              </a:rPr>
              <a:t>Corto plazo (1-2 semanas)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423160"/>
            <a:ext cx="52120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4A5568"/>
                </a:solidFill>
                <a:latin typeface="Helvetica Neue"/>
              </a:rPr>
              <a:t>→  Cross-file context con tree-sitter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4A5568"/>
                </a:solidFill>
                <a:latin typeface="Helvetica Neue"/>
              </a:rPr>
              <a:t>→  Chunker AST-aware (respeta clases/funciones)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4A5568"/>
                </a:solidFill>
                <a:latin typeface="Helvetica Neue"/>
              </a:rPr>
              <a:t>→  Streaming UI con tokens progresivos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4A5568"/>
                </a:solidFill>
                <a:latin typeface="Helvetica Neue"/>
              </a:rPr>
              <a:t>→  Prompts por lenguaje (PEP 8 vs eslint)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4A5568"/>
                </a:solidFill>
                <a:latin typeface="Helvetica Neue"/>
              </a:rPr>
              <a:t>→  Pre-commit hook (codesentinel diff --staged)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E2761"/>
                </a:solidFill>
                <a:latin typeface="Helvetica Neue"/>
              </a:rPr>
              <a:t>Mediano / Largo plazo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423160"/>
            <a:ext cx="52120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4A5568"/>
                </a:solidFill>
                <a:latin typeface="Helvetica Neue"/>
              </a:rPr>
              <a:t>→  Extensión VS Code (SARIF ya generado)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4A5568"/>
                </a:solidFill>
                <a:latin typeface="Helvetica Neue"/>
              </a:rPr>
              <a:t>→  GitHub Action — comenta PRs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4A5568"/>
                </a:solidFill>
                <a:latin typeface="Helvetica Neue"/>
              </a:rPr>
              <a:t>→  Benchmark sobre Defects4J / BugsInPy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4A5568"/>
                </a:solidFill>
                <a:latin typeface="Helvetica Neue"/>
              </a:rPr>
              <a:t>→  Modelos más grandes según RAM (auto-detect)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4A5568"/>
                </a:solidFill>
                <a:latin typeface="Helvetica Neue"/>
              </a:rPr>
              <a:t>→  Fine-tune LoRA con bugs históricos del repo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4A5568"/>
                </a:solidFill>
                <a:latin typeface="Helvetica Neue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D66B"/>
                </a:solidFill>
                <a:latin typeface="Helvetica Neue"/>
              </a:rPr>
              <a:t>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600" b="1">
                <a:solidFill>
                  <a:srgbClr val="FFFFFF"/>
                </a:solidFill>
                <a:latin typeface="Helvetica Neue"/>
              </a:rPr>
              <a:t>Gracias.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260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0">
                <a:solidFill>
                  <a:srgbClr val="CADCFC"/>
                </a:solidFill>
                <a:latin typeface="Helvetica Neue"/>
              </a:rPr>
              <a:t>¿Preguntas?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120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D66B"/>
                </a:solidFill>
                <a:latin typeface="Helvetica Neue"/>
              </a:rPr>
              <a:t>CODESENTINEL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40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Helvetica Neue"/>
              </a:rPr>
              <a:t>Revisor de Código Local con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CADCFC"/>
                </a:solidFill>
                <a:latin typeface="Helvetica Neue"/>
              </a:rPr>
              <a:t>Linda Valentina Lopez Rubiano · Juan Felipe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CADCFC"/>
                </a:solidFill>
                <a:latin typeface="Helvetica Neue"/>
              </a:rPr>
              <a:t>USCO · Inteligencia Artificial · Mayo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40080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CADCFC"/>
                </a:solidFill>
                <a:latin typeface="Helvetica Neue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